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098" autoAdjust="0"/>
  </p:normalViewPr>
  <p:slideViewPr>
    <p:cSldViewPr snapToGrid="0">
      <p:cViewPr varScale="1">
        <p:scale>
          <a:sx n="70" d="100"/>
          <a:sy n="70" d="100"/>
        </p:scale>
        <p:origin x="11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DB7DF-E2EB-6226-BFC3-A8044B47F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3519A8-B83F-7A60-E4D4-BD3FACE4C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0649E-7990-C473-21E3-F48F5E3EE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0AE6-D49E-45DD-B80D-84C588A4AD2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3F446-2640-72C5-B249-CEE0FABD7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EBC1E-C21B-5825-9135-A1A8AF84D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E4E2-7B61-4723-BE26-AD2A90D28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46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D63B0-349C-23D1-9BF0-B430E0A15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73F2A-8107-2F75-96B1-DFBAB3533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222B4-2CA3-2D80-6534-D390A1F27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0AE6-D49E-45DD-B80D-84C588A4AD2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456A3-182D-6A7A-D3B4-B83C2A9AC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9C2A3-9055-9274-44AC-DDFDD409F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E4E2-7B61-4723-BE26-AD2A90D28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351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E8A53-331A-1DBE-7CF2-4F107B731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C5E5B-7676-2CAE-E0E5-27354C7C2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76369-AD09-0297-F835-AF3CE2C36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0AE6-D49E-45DD-B80D-84C588A4AD2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6511A-F582-F070-CC5B-C8AF2DE73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73CDA-9D8C-B63D-6F21-F562E8A3E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E4E2-7B61-4723-BE26-AD2A90D28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878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91C83-A2C1-3E52-DB92-86C2282DB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99624-BC50-A907-A713-3D6AF5E07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CD4D1A-77B0-9145-E22E-91B844981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39BE4-F011-5A34-61EF-860ECFAA7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0AE6-D49E-45DD-B80D-84C588A4AD2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B0150-F631-2512-D1DF-CB0443611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C71A8-361A-866C-C3AA-A785F5191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E4E2-7B61-4723-BE26-AD2A90D28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48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C6BBE-98F9-76F0-A1AA-F25034B4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9B270-38AA-0FCD-2BB4-C49CD493C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8A541-F176-FAFB-B42E-CCAE96161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34553-E9BF-0585-9CEF-FA7601F1F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9E8D-F221-6A56-4A7F-1F7CEF6AEA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20D16B-B90F-E068-CCC9-19B74F03B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0AE6-D49E-45DD-B80D-84C588A4AD2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D0EBEC-B35D-A2F5-F14E-634896CA5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EF4986-8EBF-1E09-BAC9-9DB673A67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E4E2-7B61-4723-BE26-AD2A90D28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521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B62CB-20F1-2F4F-9017-9A2E0AE49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A7E330-0685-F903-FE94-97FF31DBA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0AE6-D49E-45DD-B80D-84C588A4AD2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A4E4C-B8E8-5D06-9A47-01B26A6B5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7F35D-FE93-0F71-52BD-4A37014F5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E4E2-7B61-4723-BE26-AD2A90D28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18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8E1573-B7A0-D403-70D3-D486CCAB5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0AE6-D49E-45DD-B80D-84C588A4AD2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2D81FC-E00A-A94C-4A15-47BCCDC9A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C9C13-DC77-BB3A-19AB-316022BE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E4E2-7B61-4723-BE26-AD2A90D28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57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8E586-EC48-6AB5-FD68-4AFEACBF9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85734-6020-B41D-010B-6848FF074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4690A3-2953-ABFF-83A9-5C9F95AFC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B1561-1B7D-5A84-F592-09F252927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0AE6-D49E-45DD-B80D-84C588A4AD2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86854-A471-4C98-940F-07A38C505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EE5C0-1475-39C7-2E7D-57DFFF7C2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E4E2-7B61-4723-BE26-AD2A90D28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044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3D054-9214-8230-15A2-2411AD717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F5D7E3-D8DF-40D9-0D0F-D76F3259D0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9F37A-880D-1AA2-3AFD-3B04CB7F9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B4E0A-7A46-2351-234F-3934551CE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0AE6-D49E-45DD-B80D-84C588A4AD2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2BFFF-5198-83F0-91E2-AC4697AB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BCA08-CD5D-2279-565E-B17C0D422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E4E2-7B61-4723-BE26-AD2A90D28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411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70127-CE7D-71B7-5E41-2D04F6394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E5E9C4-F7D7-7608-3401-ECA13E7CB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7795C-B2C8-6C2E-8E22-88B8B73A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0AE6-D49E-45DD-B80D-84C588A4AD2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6DC80-8010-4A92-BB5E-8ECF9D80F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4DFE1-8032-CA5A-D330-81AE9F2E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E4E2-7B61-4723-BE26-AD2A90D28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61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922570-2873-A6BF-876B-B6A6956E75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0AC235-AF76-3221-7F2F-8871A90D7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86832-8767-1869-392F-2B6FD4493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0AE6-D49E-45DD-B80D-84C588A4AD2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F702F-DD6A-0E43-1F1D-992B4889A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6E6FF-85E1-0511-C7D6-2AF593491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E4E2-7B61-4723-BE26-AD2A90D28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554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E3918F-640E-66ED-36B7-D9BB58355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2B1FE-3D02-FEAA-3F98-FBEB2AFE8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1DA9B-C567-5E75-7E50-B31D491E32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30AE6-D49E-45DD-B80D-84C588A4AD2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683A2-547C-B80F-7D70-51748E711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FC71C-57AD-6399-4D32-A154A8E39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EE4E2-7B61-4723-BE26-AD2A90D28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02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lthingsdistributed.com/files/amazon-dynamo-sosp2007.pdf" TargetMode="External"/><Relationship Id="rId2" Type="http://schemas.openxmlformats.org/officeDocument/2006/relationships/hyperlink" Target="https://static.googleusercontent.com/media/research.google.com/en/archive/gfs-sosp2003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intensive.net/" TargetMode="External"/><Relationship Id="rId5" Type="http://schemas.openxmlformats.org/officeDocument/2006/relationships/hyperlink" Target="https://cacm.acm.org/magazines/2013/2/160173-the-tail-at-scale/fulltext" TargetMode="External"/><Relationship Id="rId4" Type="http://schemas.openxmlformats.org/officeDocument/2006/relationships/hyperlink" Target="https://static.googleusercontent.com/media/research.google.com/en/archive/mapreduce-osdi04.pd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8354413" TargetMode="External"/><Relationship Id="rId2" Type="http://schemas.openxmlformats.org/officeDocument/2006/relationships/hyperlink" Target="https://www.infoq.com/presentations/twitter-microservices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l.acm.org/doi/10.1145/3350486.3350492" TargetMode="External"/><Relationship Id="rId5" Type="http://schemas.openxmlformats.org/officeDocument/2006/relationships/hyperlink" Target="https://ieeexplore.ieee.org/document/8456751" TargetMode="External"/><Relationship Id="rId4" Type="http://schemas.openxmlformats.org/officeDocument/2006/relationships/hyperlink" Target="https://ieeexplore.ieee.org/document/5719011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ccess.thecvf.com/content_cvpr_2015/papers/Vinyals_Show_and_Tell_2015_CVPR_paper.pdf" TargetMode="External"/><Relationship Id="rId2" Type="http://schemas.openxmlformats.org/officeDocument/2006/relationships/hyperlink" Target="https://dl.acm.org/doi/10.1145/3292522.3326025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l.acm.org/doi/10.1145/3582568" TargetMode="External"/><Relationship Id="rId5" Type="http://schemas.openxmlformats.org/officeDocument/2006/relationships/hyperlink" Target="https://facctconference.org/static/papers24/facct24-78.pdf" TargetMode="External"/><Relationship Id="rId4" Type="http://schemas.openxmlformats.org/officeDocument/2006/relationships/hyperlink" Target="https://aclanthology.org/2022.semeval-1.293.pdf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92683-025D-5913-B5C0-52D8653DE3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Pixora</a:t>
            </a:r>
            <a:r>
              <a:rPr lang="en-US" b="1" dirty="0"/>
              <a:t> – AI-Powered Image Sharing Platform</a:t>
            </a:r>
            <a:br>
              <a:rPr lang="en-US" b="1" dirty="0"/>
            </a:br>
            <a:r>
              <a:rPr lang="en-US" b="1" dirty="0"/>
              <a:t>22AIE2311 Software Engineering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4EC055-9D57-F7DD-F16B-297AAD4FE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0561"/>
            <a:ext cx="9144000" cy="1655762"/>
          </a:xfrm>
        </p:spPr>
        <p:txBody>
          <a:bodyPr>
            <a:normAutofit fontScale="70000" lnSpcReduction="20000"/>
          </a:bodyPr>
          <a:lstStyle/>
          <a:p>
            <a:r>
              <a:rPr lang="en-IN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Team – D08</a:t>
            </a:r>
          </a:p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Devi Aakash K – CB.SC.U4AIE23311</a:t>
            </a:r>
          </a:p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Tarun Reddy N – CB.SC.U4AIE23320</a:t>
            </a:r>
          </a:p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Sai Kartikeya V – CB.SC.U4AIE23345</a:t>
            </a:r>
          </a:p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Sai Akhilesh Y – CB.SC.U4AIE23348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4446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BB227-D515-8830-19B6-F29389D7F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39" y="78658"/>
            <a:ext cx="10515600" cy="1325563"/>
          </a:xfrm>
        </p:spPr>
        <p:txBody>
          <a:bodyPr/>
          <a:lstStyle/>
          <a:p>
            <a:r>
              <a:rPr lang="en-US" b="1" dirty="0"/>
              <a:t>Introduction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CCE206-B0AF-13C3-1543-516778A3C0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0661" y="1388188"/>
            <a:ext cx="1131570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Social media platforms generate an enormous volume of image-based content every day.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Globally, over 3.2 billion images are shared daily, making content management a major challenge.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Traditional manual content moderation is slow, expensive, and not scalable for such large volumes of data.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Users increasingly expect platforms to be safe, intelligent, and inclusive, with minimal exposure to harmful content.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Pixora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is an AI-powered image sharing platform that combines social networking with artificial intelligence.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The platform focuses on:</a:t>
            </a:r>
          </a:p>
          <a:p>
            <a:pPr lvl="1">
              <a:lnSpc>
                <a:spcPct val="150000"/>
              </a:lnSpc>
            </a:pPr>
            <a:r>
              <a:rPr lang="en-IN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Content Safety</a:t>
            </a: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 – Preventing harmful and inappropriate content</a:t>
            </a:r>
          </a:p>
          <a:p>
            <a:pPr lvl="1">
              <a:lnSpc>
                <a:spcPct val="150000"/>
              </a:lnSpc>
            </a:pPr>
            <a:r>
              <a:rPr lang="en-IN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Enhanced User Experience</a:t>
            </a: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 – Personalized and intelligent interactions</a:t>
            </a:r>
          </a:p>
          <a:p>
            <a:pPr lvl="1">
              <a:lnSpc>
                <a:spcPct val="150000"/>
              </a:lnSpc>
            </a:pPr>
            <a:r>
              <a:rPr lang="en-IN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Accessibility</a:t>
            </a: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 – AI-generated captions for visually impaired users</a:t>
            </a:r>
          </a:p>
          <a:p>
            <a:pPr lvl="1">
              <a:lnSpc>
                <a:spcPct val="150000"/>
              </a:lnSpc>
            </a:pPr>
            <a:r>
              <a:rPr lang="en-IN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Intelligent Moderation</a:t>
            </a: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 – Automated, multi-language content filtering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765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F9DA1-B217-4156-27BE-C0BD2FD49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322" y="-115067"/>
            <a:ext cx="10515600" cy="1325563"/>
          </a:xfrm>
        </p:spPr>
        <p:txBody>
          <a:bodyPr/>
          <a:lstStyle/>
          <a:p>
            <a:r>
              <a:rPr lang="en-US" b="1" dirty="0"/>
              <a:t>Literature Review</a:t>
            </a:r>
            <a:endParaRPr lang="en-IN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EF5CF7-BF3E-0868-D61D-09C7D72907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9083673"/>
              </p:ext>
            </p:extLst>
          </p:nvPr>
        </p:nvGraphicFramePr>
        <p:xfrm>
          <a:off x="164690" y="1210496"/>
          <a:ext cx="11862619" cy="5504937"/>
        </p:xfrm>
        <a:graphic>
          <a:graphicData uri="http://schemas.openxmlformats.org/drawingml/2006/table">
            <a:tbl>
              <a:tblPr/>
              <a:tblGrid>
                <a:gridCol w="3252976">
                  <a:extLst>
                    <a:ext uri="{9D8B030D-6E8A-4147-A177-3AD203B41FA5}">
                      <a16:colId xmlns:a16="http://schemas.microsoft.com/office/drawing/2014/main" val="2212450304"/>
                    </a:ext>
                  </a:extLst>
                </a:gridCol>
                <a:gridCol w="949409">
                  <a:extLst>
                    <a:ext uri="{9D8B030D-6E8A-4147-A177-3AD203B41FA5}">
                      <a16:colId xmlns:a16="http://schemas.microsoft.com/office/drawing/2014/main" val="1479736626"/>
                    </a:ext>
                  </a:extLst>
                </a:gridCol>
                <a:gridCol w="7660234">
                  <a:extLst>
                    <a:ext uri="{9D8B030D-6E8A-4147-A177-3AD203B41FA5}">
                      <a16:colId xmlns:a16="http://schemas.microsoft.com/office/drawing/2014/main" val="2476208316"/>
                    </a:ext>
                  </a:extLst>
                </a:gridCol>
              </a:tblGrid>
              <a:tr h="45396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Paper Name</a:t>
                      </a:r>
                      <a:endParaRPr lang="en-IN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Year</a:t>
                      </a:r>
                      <a:endParaRPr lang="en-IN" sz="18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  <a:endParaRPr lang="en-IN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125831"/>
                  </a:ext>
                </a:extLst>
              </a:tr>
              <a:tr h="135619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2"/>
                        </a:rPr>
                        <a:t>The Google File System</a:t>
                      </a:r>
                      <a:endParaRPr lang="en-IN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2003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Describes a scalable distributed file system for large data-intensive applications. Influenced modern cloud storage systems used in large-scale social media platforms.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300962"/>
                  </a:ext>
                </a:extLst>
              </a:tr>
              <a:tr h="94231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3"/>
                        </a:rPr>
                        <a:t>Dynamo: Amazon’s Highly Available Key-Value Store</a:t>
                      </a:r>
                      <a:endParaRPr lang="en-US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2007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Introduces a highly available and fault-tolerant database design. Forms the foundation for NoSQL databases used in scalable social applications.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824218"/>
                  </a:ext>
                </a:extLst>
              </a:tr>
              <a:tr h="90507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4"/>
                        </a:rPr>
                        <a:t>MapReduce: Simplified Data Processing on Large Clusters</a:t>
                      </a:r>
                      <a:endParaRPr lang="en-US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2004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Presents a programming model for large-scale data processing. Widely used for analytics and moderation pipelines in social platforms.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328208"/>
                  </a:ext>
                </a:extLst>
              </a:tr>
              <a:tr h="94231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5"/>
                        </a:rPr>
                        <a:t>The Tail at Scale</a:t>
                      </a:r>
                      <a:endParaRPr lang="en-IN" sz="18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2013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Explains how latency increases at scale and how to design responsive systems. Highly relevant for real-time social media feeds and notifications.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074775"/>
                  </a:ext>
                </a:extLst>
              </a:tr>
              <a:tr h="90507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6"/>
                        </a:rPr>
                        <a:t>Designing Data-Intensive Applications</a:t>
                      </a:r>
                      <a:endParaRPr lang="en-IN" sz="18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2017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Covers system design principles for scalable, reliable, and maintainable applications. Common reference for modern social media backend design.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886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3866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F9DC9C-8D71-D3F2-52D5-D0DEC016E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806408"/>
              </p:ext>
            </p:extLst>
          </p:nvPr>
        </p:nvGraphicFramePr>
        <p:xfrm>
          <a:off x="167147" y="196646"/>
          <a:ext cx="11926528" cy="6436574"/>
        </p:xfrm>
        <a:graphic>
          <a:graphicData uri="http://schemas.openxmlformats.org/drawingml/2006/table">
            <a:tbl>
              <a:tblPr/>
              <a:tblGrid>
                <a:gridCol w="3975510">
                  <a:extLst>
                    <a:ext uri="{9D8B030D-6E8A-4147-A177-3AD203B41FA5}">
                      <a16:colId xmlns:a16="http://schemas.microsoft.com/office/drawing/2014/main" val="811703739"/>
                    </a:ext>
                  </a:extLst>
                </a:gridCol>
                <a:gridCol w="1037565">
                  <a:extLst>
                    <a:ext uri="{9D8B030D-6E8A-4147-A177-3AD203B41FA5}">
                      <a16:colId xmlns:a16="http://schemas.microsoft.com/office/drawing/2014/main" val="1535794672"/>
                    </a:ext>
                  </a:extLst>
                </a:gridCol>
                <a:gridCol w="6913453">
                  <a:extLst>
                    <a:ext uri="{9D8B030D-6E8A-4147-A177-3AD203B41FA5}">
                      <a16:colId xmlns:a16="http://schemas.microsoft.com/office/drawing/2014/main" val="1425708747"/>
                    </a:ext>
                  </a:extLst>
                </a:gridCol>
              </a:tblGrid>
              <a:tr h="32943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Paper Name</a:t>
                      </a:r>
                      <a:endParaRPr lang="en-IN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Year</a:t>
                      </a:r>
                      <a:endParaRPr lang="en-IN" sz="18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  <a:endParaRPr lang="en-IN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223447"/>
                  </a:ext>
                </a:extLst>
              </a:tr>
              <a:tr h="131775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2"/>
                        </a:rPr>
                        <a:t>Scaling Twitter: From Monolith to Microservices</a:t>
                      </a:r>
                      <a:endParaRPr lang="en-US" sz="18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2016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Describes Twitter’s migration to microservices to improve scalability and reliability. Provides practical insights into large-scale social media system evolution.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3134677"/>
                  </a:ext>
                </a:extLst>
              </a:tr>
              <a:tr h="10706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3"/>
                        </a:rPr>
                        <a:t>Microservices Architecture: Aligning Principles, Practices, and Culture</a:t>
                      </a:r>
                      <a:endParaRPr lang="en-US" sz="18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2018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Discusses microservices design principles and trade-offs. Useful for structuring modular and scalable social media applications.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328419"/>
                  </a:ext>
                </a:extLst>
              </a:tr>
              <a:tr h="10706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4"/>
                        </a:rPr>
                        <a:t>RESTful Web Services</a:t>
                      </a:r>
                      <a:endParaRPr lang="en-IN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2011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Defines REST principles for scalable web APIs. Forms the backbone of communication between frontend, backend, and mobile clients.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703185"/>
                  </a:ext>
                </a:extLst>
              </a:tr>
              <a:tr h="131775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5"/>
                        </a:rPr>
                        <a:t>A Survey on Social Media Recommender Systems</a:t>
                      </a:r>
                      <a:endParaRPr lang="en-US" sz="18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2018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Reviews recommendation techniques used in social platforms. Supports feed ranking, content discovery, and user engagement design.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37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6"/>
                        </a:rPr>
                        <a:t>Event-Driven Architecture for Scalable Applications</a:t>
                      </a:r>
                      <a:endParaRPr lang="en-IN" sz="18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2019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Explains asynchronous event-based systems. Relevant for notifications, moderation triggers, and real-time updates in social media apps.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974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0758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44733F-096F-53CF-20E0-300D350F4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159979"/>
              </p:ext>
            </p:extLst>
          </p:nvPr>
        </p:nvGraphicFramePr>
        <p:xfrm>
          <a:off x="88490" y="104000"/>
          <a:ext cx="11956026" cy="6650000"/>
        </p:xfrm>
        <a:graphic>
          <a:graphicData uri="http://schemas.openxmlformats.org/drawingml/2006/table">
            <a:tbl>
              <a:tblPr/>
              <a:tblGrid>
                <a:gridCol w="3936583">
                  <a:extLst>
                    <a:ext uri="{9D8B030D-6E8A-4147-A177-3AD203B41FA5}">
                      <a16:colId xmlns:a16="http://schemas.microsoft.com/office/drawing/2014/main" val="3487548667"/>
                    </a:ext>
                  </a:extLst>
                </a:gridCol>
                <a:gridCol w="796917">
                  <a:extLst>
                    <a:ext uri="{9D8B030D-6E8A-4147-A177-3AD203B41FA5}">
                      <a16:colId xmlns:a16="http://schemas.microsoft.com/office/drawing/2014/main" val="405859072"/>
                    </a:ext>
                  </a:extLst>
                </a:gridCol>
                <a:gridCol w="7222526">
                  <a:extLst>
                    <a:ext uri="{9D8B030D-6E8A-4147-A177-3AD203B41FA5}">
                      <a16:colId xmlns:a16="http://schemas.microsoft.com/office/drawing/2014/main" val="2856570197"/>
                    </a:ext>
                  </a:extLst>
                </a:gridCol>
              </a:tblGrid>
              <a:tr h="35107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Paper Name</a:t>
                      </a:r>
                      <a:endParaRPr lang="en-IN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Year</a:t>
                      </a:r>
                      <a:endParaRPr lang="en-IN" sz="18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  <a:endParaRPr lang="en-IN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986916"/>
                  </a:ext>
                </a:extLst>
              </a:tr>
              <a:tr h="140430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2"/>
                        </a:rPr>
                        <a:t>Perspective API: Detecting Toxicity in Online Conversations</a:t>
                      </a:r>
                      <a:endParaRPr lang="en-US" sz="18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2019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Introduces machine learning techniques for detecting toxic comments. Commonly used for moderation support in social platforms.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422272"/>
                  </a:ext>
                </a:extLst>
              </a:tr>
              <a:tr h="114100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3"/>
                        </a:rPr>
                        <a:t>Show and Tell: A Neural Image Caption Generator</a:t>
                      </a:r>
                      <a:endParaRPr lang="en-US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2015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Proposes automatic image captioning using deep learning. Useful for accessibility and image understanding features.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62280"/>
                  </a:ext>
                </a:extLst>
              </a:tr>
              <a:tr h="114100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4"/>
                        </a:rPr>
                        <a:t>Multilingual Hate Speech Detection</a:t>
                      </a:r>
                      <a:endParaRPr lang="en-IN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Discusses detection of abusive content across multiple languages. Important for global social platforms with regional users.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832189"/>
                  </a:ext>
                </a:extLst>
              </a:tr>
              <a:tr h="114100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5"/>
                        </a:rPr>
                        <a:t>Auditing Image-based NSFW Classifiers</a:t>
                      </a:r>
                      <a:endParaRPr lang="en-IN" sz="18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2024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Analyzes reliability and limitations of NSFW image classifiers. Supports proactive content filtering strategies.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0268"/>
                  </a:ext>
                </a:extLst>
              </a:tr>
              <a:tr h="140430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6"/>
                        </a:rPr>
                        <a:t>Human-Centered Evaluation of Moderation Systems</a:t>
                      </a:r>
                      <a:endParaRPr lang="en-US" sz="18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2023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Evaluates moderation tools from user and admin perspectives. Highlights the need for transparency and explainability in AI moderation.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664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659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85D9C-9BBD-A53D-D516-0C3A7914A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7" y="445054"/>
            <a:ext cx="10515600" cy="1325563"/>
          </a:xfrm>
        </p:spPr>
        <p:txBody>
          <a:bodyPr/>
          <a:lstStyle/>
          <a:p>
            <a:r>
              <a:rPr lang="en-US" b="1" dirty="0"/>
              <a:t>Problem Statement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0B9B29-6B77-B3A3-FB56-E89824F221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6546" y="1770617"/>
            <a:ext cx="11478809" cy="378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Literature shows that existing social media platforms scale well but treat content moderation as a reactive add-on rather than a core system feature.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Manual and semi-automated moderation approaches fail to handle the growing volume of images and comments efficiently.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Lack of integrated image understanding and accessibility support limits content quality and inclusiveness.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Current moderation systems struggle with multilingual and transliterated abuse, especially regional languages.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AI solutions in literature are mostly isolated models, not integrated into a unified, deployable software architecture.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Administrators lack automated, data-driven insights for effective platform governance.</a:t>
            </a:r>
          </a:p>
        </p:txBody>
      </p:sp>
    </p:spTree>
    <p:extLst>
      <p:ext uri="{BB962C8B-B14F-4D97-AF65-F5344CB8AC3E}">
        <p14:creationId xmlns:p14="http://schemas.microsoft.com/office/powerpoint/2010/main" val="2982550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9A295-F235-0004-8F80-C11F543C6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36" y="237305"/>
            <a:ext cx="10515600" cy="1325563"/>
          </a:xfrm>
        </p:spPr>
        <p:txBody>
          <a:bodyPr/>
          <a:lstStyle/>
          <a:p>
            <a:r>
              <a:rPr lang="en-IN" b="1" dirty="0"/>
              <a:t>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FBC34-80A3-959C-C91C-849CF0237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74" y="166830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1900" dirty="0">
                <a:latin typeface="Segoe UI" panose="020B0502040204020203" pitchFamily="34" charset="0"/>
                <a:cs typeface="Segoe UI" panose="020B0502040204020203" pitchFamily="34" charset="0"/>
              </a:rPr>
              <a:t>Existing studies focus on individual solutions such as moderation, storage, or recommendation, but lack a unified social media system design.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Segoe UI" panose="020B0502040204020203" pitchFamily="34" charset="0"/>
                <a:cs typeface="Segoe UI" panose="020B0502040204020203" pitchFamily="34" charset="0"/>
              </a:rPr>
              <a:t>Most platforms apply AI only after content is published, rather than proactive filtering at upload time.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Segoe UI" panose="020B0502040204020203" pitchFamily="34" charset="0"/>
                <a:cs typeface="Segoe UI" panose="020B0502040204020203" pitchFamily="34" charset="0"/>
              </a:rPr>
              <a:t>Limited research addresses regional and transliterated language abuse within real-world social applications.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Segoe UI" panose="020B0502040204020203" pitchFamily="34" charset="0"/>
                <a:cs typeface="Segoe UI" panose="020B0502040204020203" pitchFamily="34" charset="0"/>
              </a:rPr>
              <a:t>Accessibility features like automatic image descriptions are not tightly integrated into social platforms.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Segoe UI" panose="020B0502040204020203" pitchFamily="34" charset="0"/>
                <a:cs typeface="Segoe UI" panose="020B0502040204020203" pitchFamily="34" charset="0"/>
              </a:rPr>
              <a:t>Prior work provides moderation models, but lacks end-to-end software engineering integration with admin analytics and policy enforcement.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874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7799B-F5DB-B72F-3406-279007598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245" y="650260"/>
            <a:ext cx="10515600" cy="1325563"/>
          </a:xfrm>
        </p:spPr>
        <p:txBody>
          <a:bodyPr/>
          <a:lstStyle/>
          <a:p>
            <a:r>
              <a:rPr lang="en-IN" b="1" dirty="0"/>
              <a:t>Proposed Solution &amp; Novelty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81DFC9-BDA6-3A4F-4938-2F24293369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5180" y="2138667"/>
            <a:ext cx="9682316" cy="378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Pixora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proposes a scalable image-sharing social media platform with AI embedded into the core architecture.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Introduces a unified moderation pipeline combining image analysis, text moderation, and policy enforcement.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Implements proactive NSFW filtering before content is published.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Supports multi-language and transliterated abuse detection, addressing regional language gaps.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Integrates AI-generated image captions to improve accessibility and content understanding.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Provides automated admin analytics and reports for data-driven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779251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D603-BC35-B1F9-00CC-D06D7D29D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 Overview</a:t>
            </a:r>
            <a:endParaRPr lang="en-IN" b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6F26FF5-1D64-E3EC-DE37-6E46F7AE91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1252" y="1857780"/>
            <a:ext cx="9100941" cy="405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185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B4630-34CE-EA43-0269-F989D67E8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97" y="1125794"/>
            <a:ext cx="10515600" cy="1325563"/>
          </a:xfrm>
        </p:spPr>
        <p:txBody>
          <a:bodyPr/>
          <a:lstStyle/>
          <a:p>
            <a:r>
              <a:rPr lang="en-IN" b="1" dirty="0"/>
              <a:t>Software Development Methodology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96F017-7927-989A-C47E-4DFB63E34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322554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The project follows the Agile software development methodology.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Development is divided into short iterative sprints with continuous feedback.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Each sprint focuses on design, development, testing, and refinement of features.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Agile enables early integration of AI components with core system modules.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This approach ensures scalability, flexibility, and faster issue resolution during development.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8485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5038F-8540-5CB0-6F9F-48CB4DD9A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7" y="373625"/>
            <a:ext cx="10515600" cy="1325563"/>
          </a:xfrm>
        </p:spPr>
        <p:txBody>
          <a:bodyPr/>
          <a:lstStyle/>
          <a:p>
            <a:r>
              <a:rPr lang="en-US" b="1" dirty="0"/>
              <a:t>System Architecture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3FCBA-620E-1971-837F-C6D074A6D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926" y="1699188"/>
            <a:ext cx="11409107" cy="478027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60000"/>
              </a:lnSpc>
            </a:pPr>
            <a:r>
              <a:rPr lang="en-US" sz="7200" dirty="0" err="1">
                <a:latin typeface="Segoe UI" panose="020B0502040204020203" pitchFamily="34" charset="0"/>
                <a:cs typeface="Segoe UI" panose="020B0502040204020203" pitchFamily="34" charset="0"/>
              </a:rPr>
              <a:t>Pixora</a:t>
            </a:r>
            <a:r>
              <a:rPr lang="en-US" sz="7200" dirty="0">
                <a:latin typeface="Segoe UI" panose="020B0502040204020203" pitchFamily="34" charset="0"/>
                <a:cs typeface="Segoe UI" panose="020B0502040204020203" pitchFamily="34" charset="0"/>
              </a:rPr>
              <a:t> is designed using a modular client–server architecture to support scalability and maintainability.</a:t>
            </a:r>
          </a:p>
          <a:p>
            <a:pPr>
              <a:lnSpc>
                <a:spcPct val="160000"/>
              </a:lnSpc>
            </a:pPr>
            <a:r>
              <a:rPr lang="en-US" sz="7200" dirty="0">
                <a:latin typeface="Segoe UI" panose="020B0502040204020203" pitchFamily="34" charset="0"/>
                <a:cs typeface="Segoe UI" panose="020B0502040204020203" pitchFamily="34" charset="0"/>
              </a:rPr>
              <a:t>The frontend layer is implemented using Next.js, enabling server-side rendering and fast page loading.</a:t>
            </a:r>
          </a:p>
          <a:p>
            <a:pPr>
              <a:lnSpc>
                <a:spcPct val="160000"/>
              </a:lnSpc>
            </a:pPr>
            <a:r>
              <a:rPr lang="en-US" sz="7200" dirty="0">
                <a:latin typeface="Segoe UI" panose="020B0502040204020203" pitchFamily="34" charset="0"/>
                <a:cs typeface="Segoe UI" panose="020B0502040204020203" pitchFamily="34" charset="0"/>
              </a:rPr>
              <a:t>The backend layer exposes RESTful APIs responsible for authentication, user management, image handling, and moderation logic.</a:t>
            </a:r>
          </a:p>
          <a:p>
            <a:pPr>
              <a:lnSpc>
                <a:spcPct val="160000"/>
              </a:lnSpc>
            </a:pPr>
            <a:r>
              <a:rPr lang="en-US" sz="7200" dirty="0">
                <a:latin typeface="Segoe UI" panose="020B0502040204020203" pitchFamily="34" charset="0"/>
                <a:cs typeface="Segoe UI" panose="020B0502040204020203" pitchFamily="34" charset="0"/>
              </a:rPr>
              <a:t>Cloud storage services are used to store uploaded images and deliver them efficiently using a CDN.</a:t>
            </a:r>
          </a:p>
          <a:p>
            <a:pPr>
              <a:lnSpc>
                <a:spcPct val="160000"/>
              </a:lnSpc>
            </a:pPr>
            <a:r>
              <a:rPr lang="en-US" sz="7200" dirty="0">
                <a:latin typeface="Segoe UI" panose="020B0502040204020203" pitchFamily="34" charset="0"/>
                <a:cs typeface="Segoe UI" panose="020B0502040204020203" pitchFamily="34" charset="0"/>
              </a:rPr>
              <a:t>AI services are integrated as independent modules for image captioning, NSFW detection, and comment moderation.</a:t>
            </a:r>
          </a:p>
          <a:p>
            <a:pPr>
              <a:lnSpc>
                <a:spcPct val="160000"/>
              </a:lnSpc>
            </a:pPr>
            <a:r>
              <a:rPr lang="en-US" sz="7200" dirty="0">
                <a:latin typeface="Segoe UI" panose="020B0502040204020203" pitchFamily="34" charset="0"/>
                <a:cs typeface="Segoe UI" panose="020B0502040204020203" pitchFamily="34" charset="0"/>
              </a:rPr>
              <a:t>A centralized database layer stores user profiles, posts, comments, moderation logs, and strike records.</a:t>
            </a:r>
          </a:p>
          <a:p>
            <a:pPr>
              <a:lnSpc>
                <a:spcPct val="160000"/>
              </a:lnSpc>
            </a:pPr>
            <a:r>
              <a:rPr lang="en-US" sz="7200" dirty="0">
                <a:latin typeface="Segoe UI" panose="020B0502040204020203" pitchFamily="34" charset="0"/>
                <a:cs typeface="Segoe UI" panose="020B0502040204020203" pitchFamily="34" charset="0"/>
              </a:rPr>
              <a:t>The admin dashboard provides system monitoring, moderation control, and analytics-based decision support.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2015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80182-B9A5-E01A-EE26-9A99679CA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" y="-83574"/>
            <a:ext cx="10515600" cy="1325563"/>
          </a:xfrm>
        </p:spPr>
        <p:txBody>
          <a:bodyPr/>
          <a:lstStyle/>
          <a:p>
            <a:r>
              <a:rPr lang="en-US" b="1" dirty="0"/>
              <a:t>Features overview</a:t>
            </a:r>
            <a:r>
              <a:rPr lang="en-IN" b="1" dirty="0"/>
              <a:t>– Authentication &amp; Security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CAA5D4-1CCF-6BA3-0BF8-E6E7DBAB20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765452"/>
              </p:ext>
            </p:extLst>
          </p:nvPr>
        </p:nvGraphicFramePr>
        <p:xfrm>
          <a:off x="563613" y="1241988"/>
          <a:ext cx="10515600" cy="1894500"/>
        </p:xfrm>
        <a:graphic>
          <a:graphicData uri="http://schemas.openxmlformats.org/drawingml/2006/table">
            <a:tbl>
              <a:tblPr/>
              <a:tblGrid>
                <a:gridCol w="5168593">
                  <a:extLst>
                    <a:ext uri="{9D8B030D-6E8A-4147-A177-3AD203B41FA5}">
                      <a16:colId xmlns:a16="http://schemas.microsoft.com/office/drawing/2014/main" val="2315998197"/>
                    </a:ext>
                  </a:extLst>
                </a:gridCol>
                <a:gridCol w="5347007">
                  <a:extLst>
                    <a:ext uri="{9D8B030D-6E8A-4147-A177-3AD203B41FA5}">
                      <a16:colId xmlns:a16="http://schemas.microsoft.com/office/drawing/2014/main" val="1758631549"/>
                    </a:ext>
                  </a:extLst>
                </a:gridCol>
              </a:tblGrid>
              <a:tr h="378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Feature</a:t>
                      </a:r>
                      <a:endParaRPr lang="en-IN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  <a:endParaRPr lang="en-IN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941040"/>
                  </a:ext>
                </a:extLst>
              </a:tr>
              <a:tr h="378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Email &amp; Password Login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Allows users to securely log in using credentials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98672"/>
                  </a:ext>
                </a:extLst>
              </a:tr>
              <a:tr h="378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Google OAuth Login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Enables quick login using Google accounts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174957"/>
                  </a:ext>
                </a:extLst>
              </a:tr>
              <a:tr h="378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Session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Maintains secure user sessions across requests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54354"/>
                  </a:ext>
                </a:extLst>
              </a:tr>
              <a:tr h="378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Password Hashing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Protects passwords using encrypted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49092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F2266D9-35E7-D63C-29CB-008602F9CB93}"/>
              </a:ext>
            </a:extLst>
          </p:cNvPr>
          <p:cNvSpPr txBox="1"/>
          <p:nvPr/>
        </p:nvSpPr>
        <p:spPr>
          <a:xfrm>
            <a:off x="244064" y="3239044"/>
            <a:ext cx="104386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+mj-lt"/>
              </a:rPr>
              <a:t>Features Overview – Image Management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390C35-A163-87A4-ECCF-7AF6D8CF35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538229"/>
              </p:ext>
            </p:extLst>
          </p:nvPr>
        </p:nvGraphicFramePr>
        <p:xfrm>
          <a:off x="484955" y="4008485"/>
          <a:ext cx="10940846" cy="2560320"/>
        </p:xfrm>
        <a:graphic>
          <a:graphicData uri="http://schemas.openxmlformats.org/drawingml/2006/table">
            <a:tbl>
              <a:tblPr/>
              <a:tblGrid>
                <a:gridCol w="5470423">
                  <a:extLst>
                    <a:ext uri="{9D8B030D-6E8A-4147-A177-3AD203B41FA5}">
                      <a16:colId xmlns:a16="http://schemas.microsoft.com/office/drawing/2014/main" val="1191027070"/>
                    </a:ext>
                  </a:extLst>
                </a:gridCol>
                <a:gridCol w="5470423">
                  <a:extLst>
                    <a:ext uri="{9D8B030D-6E8A-4147-A177-3AD203B41FA5}">
                      <a16:colId xmlns:a16="http://schemas.microsoft.com/office/drawing/2014/main" val="32396825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Feature</a:t>
                      </a:r>
                      <a:endParaRPr lang="en-IN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  <a:endParaRPr lang="en-IN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782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Image Upload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Allows users to upload images to the 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858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Image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Automatically compresses images for faster loading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501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Multiple Image Upload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Supports batch image uploads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273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Image 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Enables users to remove their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265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Image Download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Allows users to download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558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Image Categories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Organizes images into categories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604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366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6681-BA13-B799-C640-55CA55A68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4" y="-284771"/>
            <a:ext cx="10515600" cy="1325563"/>
          </a:xfrm>
        </p:spPr>
        <p:txBody>
          <a:bodyPr/>
          <a:lstStyle/>
          <a:p>
            <a:r>
              <a:rPr lang="en-IN" b="1" dirty="0"/>
              <a:t>Features Overview – User Experience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84B0BA-D8AA-22B9-687A-62774C692A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267054"/>
              </p:ext>
            </p:extLst>
          </p:nvPr>
        </p:nvGraphicFramePr>
        <p:xfrm>
          <a:off x="576944" y="769441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48184445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471712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Feature</a:t>
                      </a:r>
                      <a:endParaRPr lang="en-IN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  <a:endParaRPr lang="en-IN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48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Dark Theme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Provides eye-friendly dark mode 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682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Responsive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Adapts UI for mobile, tablet, and desktop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224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Masonry Layout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Displays images in Pinterest-style grid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715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Infinite Scroll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Continuously loads content while scrolling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191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Loading Skeletons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Improves perceived performance during loading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970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Toast Notifications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Gives real-time feedback for 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4485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F6A2C8A-6B7C-7899-FC65-10ECCEF68EF8}"/>
              </a:ext>
            </a:extLst>
          </p:cNvPr>
          <p:cNvSpPr txBox="1"/>
          <p:nvPr/>
        </p:nvSpPr>
        <p:spPr>
          <a:xfrm>
            <a:off x="97971" y="3329761"/>
            <a:ext cx="107550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+mj-lt"/>
              </a:rPr>
              <a:t>Features Overview – Discovery &amp; Search</a:t>
            </a:r>
            <a:endParaRPr lang="en-IN" sz="4400" b="1" dirty="0">
              <a:latin typeface="+mj-l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96F1E0-2094-9323-AAF2-1107C5EF2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711533"/>
              </p:ext>
            </p:extLst>
          </p:nvPr>
        </p:nvGraphicFramePr>
        <p:xfrm>
          <a:off x="718457" y="4112623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56683269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44418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Feature</a:t>
                      </a:r>
                      <a:endParaRPr lang="en-IN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  <a:endParaRPr lang="en-IN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733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Image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Searches images using text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58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User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Finds users by username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935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Tag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Categorizes content using tags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3834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Tag Discovery Page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Enables browsing content by tags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003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Collections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Allows users to group images into albums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775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User Profiles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Displays creator information and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752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4453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9FCEE-CA7C-DEA7-7EB5-8F112B965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6" y="100466"/>
            <a:ext cx="10515600" cy="1325563"/>
          </a:xfrm>
        </p:spPr>
        <p:txBody>
          <a:bodyPr/>
          <a:lstStyle/>
          <a:p>
            <a:r>
              <a:rPr lang="en-IN" b="1" dirty="0"/>
              <a:t>Features Overview – Social Features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F9141B-F9EC-5421-E060-2B02D4C633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6395643"/>
              </p:ext>
            </p:extLst>
          </p:nvPr>
        </p:nvGraphicFramePr>
        <p:xfrm>
          <a:off x="883460" y="1426029"/>
          <a:ext cx="10425080" cy="5301336"/>
        </p:xfrm>
        <a:graphic>
          <a:graphicData uri="http://schemas.openxmlformats.org/drawingml/2006/table">
            <a:tbl>
              <a:tblPr/>
              <a:tblGrid>
                <a:gridCol w="5212540">
                  <a:extLst>
                    <a:ext uri="{9D8B030D-6E8A-4147-A177-3AD203B41FA5}">
                      <a16:colId xmlns:a16="http://schemas.microsoft.com/office/drawing/2014/main" val="4283694164"/>
                    </a:ext>
                  </a:extLst>
                </a:gridCol>
                <a:gridCol w="5212540">
                  <a:extLst>
                    <a:ext uri="{9D8B030D-6E8A-4147-A177-3AD203B41FA5}">
                      <a16:colId xmlns:a16="http://schemas.microsoft.com/office/drawing/2014/main" val="1481167904"/>
                    </a:ext>
                  </a:extLst>
                </a:gridCol>
              </a:tblGrid>
              <a:tr h="44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Feature</a:t>
                      </a:r>
                      <a:endParaRPr lang="en-IN" sz="18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  <a:endParaRPr lang="en-IN" sz="18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534787"/>
                  </a:ext>
                </a:extLst>
              </a:tr>
              <a:tr h="44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Like System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Allows users to like images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206744"/>
                  </a:ext>
                </a:extLst>
              </a:tr>
              <a:tr h="44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Comments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Enables discussion on images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267580"/>
                  </a:ext>
                </a:extLst>
              </a:tr>
              <a:tr h="44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Threaded Comments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Supports replies to comments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918691"/>
                  </a:ext>
                </a:extLst>
              </a:tr>
              <a:tr h="44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Edit Comments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Allows users to modify comments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019987"/>
                  </a:ext>
                </a:extLst>
              </a:tr>
              <a:tr h="44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Delete Comments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Allows users to remove comments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091433"/>
                  </a:ext>
                </a:extLst>
              </a:tr>
              <a:tr h="44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Follow System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Enables following other users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20265"/>
                  </a:ext>
                </a:extLst>
              </a:tr>
              <a:tr h="44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Followers List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Displays list of followers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0508525"/>
                  </a:ext>
                </a:extLst>
              </a:tr>
              <a:tr h="44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Following List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Displays followed users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201827"/>
                  </a:ext>
                </a:extLst>
              </a:tr>
              <a:tr h="44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Favorites / Bookmarks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Saves images for later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748549"/>
                  </a:ext>
                </a:extLst>
              </a:tr>
              <a:tr h="44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Notifications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Alerts users about activities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988900"/>
                  </a:ext>
                </a:extLst>
              </a:tr>
              <a:tr h="44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User Feed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Shows personalized content feed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205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507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1A5D4-C5AA-84CF-CD73-310EF9D1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41" y="-159862"/>
            <a:ext cx="10515600" cy="1325563"/>
          </a:xfrm>
        </p:spPr>
        <p:txBody>
          <a:bodyPr/>
          <a:lstStyle/>
          <a:p>
            <a:r>
              <a:rPr lang="en-IN" b="1" dirty="0"/>
              <a:t>Features Overview – Analytics &amp; Insights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4E74D7-6022-6F73-C05D-D9603A4580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948798"/>
              </p:ext>
            </p:extLst>
          </p:nvPr>
        </p:nvGraphicFramePr>
        <p:xfrm>
          <a:off x="762000" y="748937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3692716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734431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Feature</a:t>
                      </a:r>
                      <a:endParaRPr lang="en-IN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  <a:endParaRPr lang="en-IN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924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User Dashboard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Displays personal activity statistics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344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Image View 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Tracks number of image views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782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Like 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Measures engagement on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653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Profile Statistics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Shows posts, followers, following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566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User Badges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Rewards users based on 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370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Admin Analytics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Provides platform-level insights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7645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3EE6F5A-9AB1-42CA-ED86-5017A15A6023}"/>
              </a:ext>
            </a:extLst>
          </p:cNvPr>
          <p:cNvSpPr txBox="1"/>
          <p:nvPr/>
        </p:nvSpPr>
        <p:spPr>
          <a:xfrm>
            <a:off x="337456" y="3343912"/>
            <a:ext cx="91004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latin typeface="+mj-lt"/>
              </a:rPr>
              <a:t>Features Overview – Admin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1E7068-E3B2-4229-97B5-56ADA1A60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471240"/>
              </p:ext>
            </p:extLst>
          </p:nvPr>
        </p:nvGraphicFramePr>
        <p:xfrm>
          <a:off x="838200" y="4198441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86950824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574406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Feature</a:t>
                      </a:r>
                      <a:endParaRPr lang="en-IN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  <a:endParaRPr lang="en-IN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082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User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View and manage platform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692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Ban / Unban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Enforces moderation 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572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Content Removal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Deletes policy-violating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266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Trending Tags 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Displays popular tags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753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Reels 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Supports short video sharing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735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Direct Messaging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Enables private user 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744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6059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0ADE6-C493-D49B-EACB-60937928B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2" y="147411"/>
            <a:ext cx="10515600" cy="1325563"/>
          </a:xfrm>
        </p:spPr>
        <p:txBody>
          <a:bodyPr/>
          <a:lstStyle/>
          <a:p>
            <a:r>
              <a:rPr lang="en-IN" b="1" dirty="0"/>
              <a:t>Features Overview – AI Features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E3A766-C2CA-FF56-023D-972E0E9D55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2175235"/>
              </p:ext>
            </p:extLst>
          </p:nvPr>
        </p:nvGraphicFramePr>
        <p:xfrm>
          <a:off x="332060" y="1309688"/>
          <a:ext cx="11527880" cy="5237609"/>
        </p:xfrm>
        <a:graphic>
          <a:graphicData uri="http://schemas.openxmlformats.org/drawingml/2006/table">
            <a:tbl>
              <a:tblPr/>
              <a:tblGrid>
                <a:gridCol w="5763940">
                  <a:extLst>
                    <a:ext uri="{9D8B030D-6E8A-4147-A177-3AD203B41FA5}">
                      <a16:colId xmlns:a16="http://schemas.microsoft.com/office/drawing/2014/main" val="83469196"/>
                    </a:ext>
                  </a:extLst>
                </a:gridCol>
                <a:gridCol w="5763940">
                  <a:extLst>
                    <a:ext uri="{9D8B030D-6E8A-4147-A177-3AD203B41FA5}">
                      <a16:colId xmlns:a16="http://schemas.microsoft.com/office/drawing/2014/main" val="2461655068"/>
                    </a:ext>
                  </a:extLst>
                </a:gridCol>
              </a:tblGrid>
              <a:tr h="40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Feature</a:t>
                      </a:r>
                      <a:endParaRPr lang="en-IN" sz="18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  <a:endParaRPr lang="en-IN" sz="18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405946"/>
                  </a:ext>
                </a:extLst>
              </a:tr>
              <a:tr h="40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AI Image Captioning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Generates automatic image descriptions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658712"/>
                  </a:ext>
                </a:extLst>
              </a:tr>
              <a:tr h="40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AI Tag Generation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Suggests relevant image tags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02341"/>
                  </a:ext>
                </a:extLst>
              </a:tr>
              <a:tr h="40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AI Category Detection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Automatically classifies images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135438"/>
                  </a:ext>
                </a:extLst>
              </a:tr>
              <a:tr h="40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AI Alt Text Generation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Improves accessibility for visually impaired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603524"/>
                  </a:ext>
                </a:extLst>
              </a:tr>
              <a:tr h="40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AI NSFW Detection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Filters inappropriate images before publishing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093105"/>
                  </a:ext>
                </a:extLst>
              </a:tr>
              <a:tr h="40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AI Comment Moderation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Detects toxic or abusive comments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037285"/>
                  </a:ext>
                </a:extLst>
              </a:tr>
              <a:tr h="40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Multi-language Toxicity Detection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Identifies abuse in multiple languages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199793"/>
                  </a:ext>
                </a:extLst>
              </a:tr>
              <a:tr h="40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Hindi Abuse Detection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Detects transliterated Hindi offensive words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004742"/>
                  </a:ext>
                </a:extLst>
              </a:tr>
              <a:tr h="40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Real-time Toxicity Feedback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Shows toxicity score while typing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294740"/>
                  </a:ext>
                </a:extLst>
              </a:tr>
              <a:tr h="40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AI Chat Assistant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Assists users with platform queries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03447"/>
                  </a:ext>
                </a:extLst>
              </a:tr>
              <a:tr h="40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AI Admin Report Generator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Generates automated analytics reports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416714"/>
                  </a:ext>
                </a:extLst>
              </a:tr>
              <a:tr h="40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Three-Strike Policy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Enforces rules through automated warnings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520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646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2150-EFC9-B857-9F62-EE5E94E25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" y="-141514"/>
            <a:ext cx="10515600" cy="1325563"/>
          </a:xfrm>
        </p:spPr>
        <p:txBody>
          <a:bodyPr/>
          <a:lstStyle/>
          <a:p>
            <a:r>
              <a:rPr lang="en-US" b="1" dirty="0"/>
              <a:t>Tech Stack</a:t>
            </a:r>
            <a:endParaRPr lang="en-IN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D678C6-6525-735A-4FB2-1CAD96C48A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8227903"/>
              </p:ext>
            </p:extLst>
          </p:nvPr>
        </p:nvGraphicFramePr>
        <p:xfrm>
          <a:off x="195943" y="903514"/>
          <a:ext cx="11789226" cy="5812968"/>
        </p:xfrm>
        <a:graphic>
          <a:graphicData uri="http://schemas.openxmlformats.org/drawingml/2006/table">
            <a:tbl>
              <a:tblPr/>
              <a:tblGrid>
                <a:gridCol w="3929742">
                  <a:extLst>
                    <a:ext uri="{9D8B030D-6E8A-4147-A177-3AD203B41FA5}">
                      <a16:colId xmlns:a16="http://schemas.microsoft.com/office/drawing/2014/main" val="3446297963"/>
                    </a:ext>
                  </a:extLst>
                </a:gridCol>
                <a:gridCol w="3929742">
                  <a:extLst>
                    <a:ext uri="{9D8B030D-6E8A-4147-A177-3AD203B41FA5}">
                      <a16:colId xmlns:a16="http://schemas.microsoft.com/office/drawing/2014/main" val="2749827109"/>
                    </a:ext>
                  </a:extLst>
                </a:gridCol>
                <a:gridCol w="3929742">
                  <a:extLst>
                    <a:ext uri="{9D8B030D-6E8A-4147-A177-3AD203B41FA5}">
                      <a16:colId xmlns:a16="http://schemas.microsoft.com/office/drawing/2014/main" val="2961054361"/>
                    </a:ext>
                  </a:extLst>
                </a:gridCol>
              </a:tblGrid>
              <a:tr h="383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Layer</a:t>
                      </a:r>
                      <a:endParaRPr lang="en-IN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Technology</a:t>
                      </a:r>
                      <a:endParaRPr lang="en-IN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Purpose</a:t>
                      </a:r>
                      <a:endParaRPr lang="en-IN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11034"/>
                  </a:ext>
                </a:extLst>
              </a:tr>
              <a:tr h="383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Frontend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Next.js, React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Builds fast, scalable user interface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735956"/>
                  </a:ext>
                </a:extLst>
              </a:tr>
              <a:tr h="383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Styling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Tailwind CSS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Responsive and modern UI design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406026"/>
                  </a:ext>
                </a:extLst>
              </a:tr>
              <a:tr h="383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Backend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Node.js, Express.js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Handles APIs and business logic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741807"/>
                  </a:ext>
                </a:extLst>
              </a:tr>
              <a:tr h="686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Database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MongoDB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Stores users, images, comments, and logs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645299"/>
                  </a:ext>
                </a:extLst>
              </a:tr>
              <a:tr h="686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Authentication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NextAuth.js, JWT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Secure user authentication and sessions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454805"/>
                  </a:ext>
                </a:extLst>
              </a:tr>
              <a:tr h="686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Cloud Storage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Cloudinary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Image storage, optimization, and CDN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826381"/>
                  </a:ext>
                </a:extLst>
              </a:tr>
              <a:tr h="686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AI Vision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Google Gemini 2.5 Flash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Image captioning, NSFW detection, tagging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834535"/>
                  </a:ext>
                </a:extLst>
              </a:tr>
              <a:tr h="383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AI NLP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Perspective API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Toxicity and abuse detection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980805"/>
                  </a:ext>
                </a:extLst>
              </a:tr>
              <a:tr h="383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Deployment (Frontend)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Vercel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Scalable frontend hosting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662336"/>
                  </a:ext>
                </a:extLst>
              </a:tr>
              <a:tr h="383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Deployment (Backend)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Railway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Backend API hosting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750014"/>
                  </a:ext>
                </a:extLst>
              </a:tr>
              <a:tr h="383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Version Control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Git &amp; GitHub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Source code management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885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1372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A8B60-C227-36D0-CC0B-7C25242B6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7881"/>
            <a:ext cx="10515600" cy="1325563"/>
          </a:xfrm>
        </p:spPr>
        <p:txBody>
          <a:bodyPr/>
          <a:lstStyle/>
          <a:p>
            <a:r>
              <a:rPr lang="en-IN" b="1" dirty="0"/>
              <a:t>Expected Outcomes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B2ADEA4-4D2D-E10E-7CD5-9D7F56BE36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03444"/>
            <a:ext cx="10733314" cy="41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Development of a fully functional image-sharing social media platform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Scalable system capable of handling large numbers of users and uploads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Improved content safety through automated moderation mechanisms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Reduced manual moderation effort for administrators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Enhanced accessibility via AI-generated image captions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Better user experience with responsive and intuitive UI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Effective multi-language content moderation, including regional languages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Data-driven admin insights for better platform management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Reliable and maintainable software architecture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Practical demonstration of AI integration in social media systems</a:t>
            </a:r>
          </a:p>
        </p:txBody>
      </p:sp>
    </p:spTree>
    <p:extLst>
      <p:ext uri="{BB962C8B-B14F-4D97-AF65-F5344CB8AC3E}">
        <p14:creationId xmlns:p14="http://schemas.microsoft.com/office/powerpoint/2010/main" val="1103949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50369-B91D-E4CE-FC4B-DB1B35511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5" y="1192439"/>
            <a:ext cx="10515600" cy="1325563"/>
          </a:xfrm>
        </p:spPr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3DBA9C-88DB-28FB-4574-6287294FA9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34441"/>
            <a:ext cx="9052478" cy="2533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Pixora</a:t>
            </a: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addresses key challenges identified in existing social media platforms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Integrates content moderation, accessibility, and analytics into the core system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Demonstrates a software engineering–driven approach to building scalable platforms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Effectively combines AI capabilities with traditional social media features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Enhances user safety and platform reliability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Provides a strong foundation for real-world deployment and future enhancements</a:t>
            </a:r>
          </a:p>
        </p:txBody>
      </p:sp>
    </p:spTree>
    <p:extLst>
      <p:ext uri="{BB962C8B-B14F-4D97-AF65-F5344CB8AC3E}">
        <p14:creationId xmlns:p14="http://schemas.microsoft.com/office/powerpoint/2010/main" val="2116075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1760</Words>
  <Application>Microsoft Office PowerPoint</Application>
  <PresentationFormat>Widescreen</PresentationFormat>
  <Paragraphs>300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Segoe UI</vt:lpstr>
      <vt:lpstr>Office Theme</vt:lpstr>
      <vt:lpstr>Pixora – AI-Powered Image Sharing Platform 22AIE2311 Software Engineering</vt:lpstr>
      <vt:lpstr>Introduction</vt:lpstr>
      <vt:lpstr>Literature Review</vt:lpstr>
      <vt:lpstr>PowerPoint Presentation</vt:lpstr>
      <vt:lpstr>PowerPoint Presentation</vt:lpstr>
      <vt:lpstr>Problem Statement</vt:lpstr>
      <vt:lpstr>Research Gap</vt:lpstr>
      <vt:lpstr>Proposed Solution &amp; Novelty</vt:lpstr>
      <vt:lpstr>Methodology Overview</vt:lpstr>
      <vt:lpstr>Software Development Methodology</vt:lpstr>
      <vt:lpstr>System Architecture</vt:lpstr>
      <vt:lpstr>Features overview– Authentication &amp; Security</vt:lpstr>
      <vt:lpstr>Features Overview – User Experience</vt:lpstr>
      <vt:lpstr>Features Overview – Social Features</vt:lpstr>
      <vt:lpstr>Features Overview – Analytics &amp; Insights</vt:lpstr>
      <vt:lpstr>Features Overview – AI Features</vt:lpstr>
      <vt:lpstr>Tech Stack</vt:lpstr>
      <vt:lpstr>Expected Outcomes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Akhilesh Yepuri</dc:creator>
  <cp:lastModifiedBy>Sai Akhilesh Yepuri</cp:lastModifiedBy>
  <cp:revision>2</cp:revision>
  <dcterms:created xsi:type="dcterms:W3CDTF">2025-12-29T17:58:32Z</dcterms:created>
  <dcterms:modified xsi:type="dcterms:W3CDTF">2025-12-29T19:09:44Z</dcterms:modified>
</cp:coreProperties>
</file>